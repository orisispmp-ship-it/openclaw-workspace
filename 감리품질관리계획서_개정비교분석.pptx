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P4 Ph4 한미글로벌 감리품질관리계획서</a:t>
            </a:r>
            <a:br/>
            <a:r>
              <a:t>개정 비교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6E4F0"/>
                </a:solidFill>
                <a:latin typeface="Malgun Gothic"/>
              </a:defRPr>
            </a:pPr>
            <a:r>
              <a:t>Rev.3 (2026.06.23) → Rev.4 (2026.07.16)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6E4F0"/>
                </a:solidFill>
                <a:latin typeface="Malgun Gothic"/>
              </a:defRPr>
            </a:pPr>
            <a:r>
              <a:t>작성: 윤익현  |  검토: 유지우  |  승인: 박상진  |  작성일: 2026.07.14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Ⅰ. 종합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Malgun Gothic"/>
              </a:defRPr>
            </a:pPr>
            <a:r>
              <a:t>개정 목적: 2026년 상반기 QMS Audit 지적사항 추가 반영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A3C6E"/>
                </a:solidFill>
                <a:latin typeface="Malgun Gothic"/>
              </a:defRPr>
            </a:pPr>
            <a:r>
              <a:t>📌 총 15개 조항 + 신규 표 5건 변경·추가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algun Gothic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333333"/>
                </a:solidFill>
                <a:latin typeface="Malgun Gothic"/>
              </a:defRPr>
            </a:pPr>
            <a:r>
              <a:t>① 업무절차의 단계별 구체화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algun Gothic"/>
              </a:defRPr>
            </a:pPr>
            <a:r>
              <a:t>   기존 나열식 절차 → (1)~(4) 단계 구조 또는 "가.나.다." 절차로 재구성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algun Gothic"/>
              </a:defRPr>
            </a:pPr>
            <a:r>
              <a:t>   각 단계의 수행주체(단장/공무팀장/공종팀장/담당 감리원) 명시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algun Gothic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333333"/>
                </a:solidFill>
                <a:latin typeface="Malgun Gothic"/>
              </a:defRPr>
            </a:pPr>
            <a:r>
              <a:t>② 책임과 권한의 역할별 명확화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algun Gothic"/>
              </a:defRPr>
            </a:pPr>
            <a:r>
              <a:t>   5.2(R&amp;R), 6.2(품질목표), 8.6(품질감리) 등 직책별 책임과 권한 재정리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algun Gothic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333333"/>
                </a:solidFill>
                <a:latin typeface="Malgun Gothic"/>
              </a:defRPr>
            </a:pPr>
            <a:r>
              <a:t>③ 관리기준의 표 체계화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algun Gothic"/>
              </a:defRPr>
            </a:pPr>
            <a:r>
              <a:t>   7.3, 7.5, 7.6 조항 중심으로 신규 기준표 5건 추가 (서술형 → 표)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개정 이력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개정번호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개정일자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개정내용 및 사유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t>작성 / 검토 / 승인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1A3C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REV3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2026.06.23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26년 상반기 QMS Audit 반영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윤익현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유지우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REV4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2026.07.16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26년 상반기 QMS Audit 추가 반영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윤익현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Malgun Gothic"/>
                        </a:defRPr>
                      </a:pPr>
                      <a:r>
                        <a:t>유지우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Ⅱ. 항목별 변경사항 총괄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54864" cy="4114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algun Gothic"/>
              </a:defRPr>
            </a:pPr>
            <a:r>
              <a:t>1. 표지/1.2 개정현황 (1. 일반사항)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618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algun Gothic"/>
              </a:defRPr>
            </a:pPr>
            <a:r>
              <a:t>서지사항 갱신 — Rev.3→Rev.4, 발행일 갱신, 개정이력표 행 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54864" cy="4114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algun Gothic"/>
              </a:defRPr>
            </a:pPr>
            <a:r>
              <a:t>2. 4.2.5 이해관계자 요구사항 관리 (4. 조직상황)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562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algun Gothic"/>
              </a:defRPr>
            </a:pPr>
            <a:r>
              <a:t>절차 세분화 — 나열식→3단계 재구성, 반기/월간 주기 기준 신설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54864" cy="4114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algun Gothic"/>
              </a:defRPr>
            </a:pPr>
            <a:r>
              <a:t>3. 5.1.1~5.1.2 품질방침 (5. 리더십)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50591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algun Gothic"/>
              </a:defRPr>
            </a:pPr>
            <a:r>
              <a:t>절차 신설 — 작성→승인→게시공유→기록관리 체계, 역할 명확화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88920"/>
            <a:ext cx="54864" cy="4114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889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algun Gothic"/>
              </a:defRPr>
            </a:pPr>
            <a:r>
              <a:t>4. 5.2.4~5.2.5 R&amp;R 업무분장 (5. 리더십)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44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algun Gothic"/>
              </a:defRPr>
            </a:pPr>
            <a:r>
              <a:t>R&amp;R 명확화 — 개정→취합→검토→승인 절차 흐름 구체화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383279"/>
            <a:ext cx="54864" cy="4114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79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algun Gothic"/>
              </a:defRPr>
            </a:pPr>
            <a:r>
              <a:t>5. 6.2.4~6.2.5 품질목표관리 (6. 기획)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39311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algun Gothic"/>
              </a:defRPr>
            </a:pPr>
            <a:r>
              <a:t>절차 재구성 — KPI 8단계, 3대 평가분야 명시, 경영검토 보고체계 신설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977639"/>
            <a:ext cx="54864" cy="4114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977639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algun Gothic"/>
              </a:defRPr>
            </a:pPr>
            <a:r>
              <a:t>6. 6.3.1~6.3.5 품질관리계획서 변경관리 (6. 기획)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33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algun Gothic"/>
              </a:defRPr>
            </a:pPr>
            <a:r>
              <a:t>조항 신설 — 작성→검토→승인 3단계 개정절차, 용어정의 추가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572000"/>
            <a:ext cx="54864" cy="4114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algun Gothic"/>
              </a:defRPr>
            </a:pPr>
            <a:r>
              <a:t>7. 7.3.5~7.3.8 지식관리 (7. 지원)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28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algun Gothic"/>
              </a:defRPr>
            </a:pPr>
            <a:r>
              <a:t>절차 재구성/표 신설 — 4단계 + 지식유형별 담당·보관 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166360"/>
            <a:ext cx="54864" cy="4114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1663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algun Gothic"/>
              </a:defRPr>
            </a:pPr>
            <a:r>
              <a:t>8. 7.4.7 교육훈련 (7. 지원)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22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algun Gothic"/>
              </a:defRPr>
            </a:pPr>
            <a:r>
              <a:t>절차 신설/표 갱신 — 교육후 결과보고, 신규감리원 비동기학습 개편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Ⅱ. 항목별 변경사항 총괄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54864" cy="4114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algun Gothic"/>
              </a:defRPr>
            </a:pPr>
            <a:r>
              <a:t>9. 7.5.3, 7.5.6 의사소통관리 (7. 지원)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618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algun Gothic"/>
              </a:defRPr>
            </a:pPr>
            <a:r>
              <a:t>절차 재구성/표 확대 — 4단계 재구성, 의사소통기준표 4행→11행, 외부/내부 대상표 2건 신규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54864" cy="4114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algun Gothic"/>
              </a:defRPr>
            </a:pPr>
            <a:r>
              <a:t>10. 7.6.5~7.6.7 문서화된 정보관리 (7. 지원)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algun Gothic"/>
              </a:defRPr>
            </a:pPr>
            <a:r>
              <a:t>신설/표 신설 — 문서/기록 관리방법 구분, 관리기준표 2건 신규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86000"/>
            <a:ext cx="54864" cy="4114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algun Gothic"/>
              </a:defRPr>
            </a:pPr>
            <a:r>
              <a:t>11. 8.5.5 공정감리 업무절차 (8. 운용)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42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algun Gothic"/>
              </a:defRPr>
            </a:pPr>
            <a:r>
              <a:t>절차 구체화 — 공정/테마점검, 기술검토, ITP, PCM, 기계설비법 신고 등 수행주체 명시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926080"/>
            <a:ext cx="54864" cy="4114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algun Gothic"/>
              </a:defRPr>
            </a:pPr>
            <a:r>
              <a:t>12. 8.6.4~8.6.5 품질감리 (8. 운용)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821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algun Gothic"/>
              </a:defRPr>
            </a:pPr>
            <a:r>
              <a:t>R&amp;R 재정리/기준 신설 — D-1일 사전검토, Random 통보, CPMS 처리기한 1일 이내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66160"/>
            <a:ext cx="54864" cy="4114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661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algun Gothic"/>
              </a:defRPr>
            </a:pPr>
            <a:r>
              <a:t>13. 8.8.5 부적합 공사의 관리 (8. 운용)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221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algun Gothic"/>
              </a:defRPr>
            </a:pPr>
            <a:r>
              <a:t>절차 재구성 — 발견→보고→CPMS 등재→조치→확인→승인, 최종 승인: 삼성전자 담당자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206240"/>
            <a:ext cx="54864" cy="4114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algun Gothic"/>
              </a:defRPr>
            </a:pPr>
            <a:r>
              <a:t>14. 9.2.5 분석 및 평가 (9. 성과관리)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622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algun Gothic"/>
              </a:defRPr>
            </a:pPr>
            <a:r>
              <a:t>절차 재구성 — 데이터 수집→분석→F/B 3단계, 개선대책 차기 경영검토 반영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846320"/>
            <a:ext cx="54864" cy="411480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463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algun Gothic"/>
              </a:defRPr>
            </a:pPr>
            <a:r>
              <a:t>15. 10.1.5 부적합 및 시정조치 (10. 개선)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102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algun Gothic"/>
              </a:defRPr>
            </a:pPr>
            <a:r>
              <a:t>절차 재구성 — 대상선정→시정조치→결과검토→기록 4단계, 부적합 대상 정의 구체화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Ⅲ. 신설 서식(표) 목록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algun Gothic"/>
              </a:defRPr>
            </a:pPr>
            <a:r>
              <a:t>이번 개정에서 5건의 관리기준 표가 신규 추가됨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8288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조항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신설 표 명칭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분류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latin typeface="Malgun Gothic"/>
                        </a:defRPr>
                      </a:pPr>
                      <a:r>
                        <a:t>7.3.5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Malgun Gothic"/>
                        </a:defRPr>
                      </a:pPr>
                      <a:r>
                        <a:t>지식유형별 담당·보관방법 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Malgun Gothic"/>
                        </a:defRPr>
                      </a:pPr>
                      <a:r>
                        <a:t>지식관리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latin typeface="Malgun Gothic"/>
                        </a:defRPr>
                      </a:pPr>
                      <a:r>
                        <a:t>7.5.6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Malgun Gothic"/>
                        </a:defRPr>
                      </a:pPr>
                      <a:r>
                        <a:t>외부 의사소통 대상·방법·기준 표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Malgun Gothic"/>
                        </a:defRPr>
                      </a:pPr>
                      <a:r>
                        <a:t>의사소통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latin typeface="Malgun Gothic"/>
                        </a:defRPr>
                      </a:pPr>
                      <a:r>
                        <a:t>7.5.6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Malgun Gothic"/>
                        </a:defRPr>
                      </a:pPr>
                      <a:r>
                        <a:t>내부 의사소통 대상·방법·기준 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Malgun Gothic"/>
                        </a:defRPr>
                      </a:pPr>
                      <a:r>
                        <a:t>의사소통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latin typeface="Malgun Gothic"/>
                        </a:defRPr>
                      </a:pPr>
                      <a:r>
                        <a:t>7.6.6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Malgun Gothic"/>
                        </a:defRPr>
                      </a:pPr>
                      <a:r>
                        <a:t>문서 관리기준 표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Malgun Gothic"/>
                        </a:defRPr>
                      </a:pPr>
                      <a:r>
                        <a:t>문서관리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latin typeface="Malgun Gothic"/>
                        </a:defRPr>
                      </a:pPr>
                      <a:r>
                        <a:t>7.6.7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Malgun Gothic"/>
                        </a:defRPr>
                      </a:pPr>
                      <a:r>
                        <a:t>기록 관리기준 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Malgun Gothic"/>
                        </a:defRPr>
                      </a:pPr>
                      <a:r>
                        <a:t>문서관리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Ⅳ. 주요 변경 분야별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Malgun Gothic"/>
              </a:defRPr>
            </a:pPr>
            <a:r>
              <a:t>📋 의사소통 관리 (7.5)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• 기준표 4행→11행 확대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• 정기/수시보고, 공문수발신, 검측·기성, 인허가서류 등 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• 외부/내부 의사소통 대상표 2건 신규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Malgun Gothic"/>
              </a:defRPr>
            </a:pPr>
            <a:r>
              <a:t>📚 문서화된 정보관리 (7.6)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• 문서와 기록 관리방법을 분리하여 신설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• 보관연한을 표로 체계화 (문서/기록 관리기준표 2건)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Malgun Gothic"/>
              </a:defRPr>
            </a:pPr>
            <a:r>
              <a:t>🔍 품질감리 (8.6)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69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• D-1일 사전검토 후 입회여부 Random 통보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• CPMS 처리기한: 작업일 기준 1일 이내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C6E"/>
                </a:solidFill>
                <a:latin typeface="Malgun Gothic"/>
              </a:defRPr>
            </a:pPr>
            <a:r>
              <a:t>⚙️ 부적합 관리 (8.8 / 10.1)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• 발견→승인까지 6단계 절차 재구성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32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algun Gothic"/>
              </a:defRPr>
            </a:pPr>
            <a:r>
              <a:t>• 부적합 대상 정의 구체화 (Audit, B/P, VOC 등)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algun Gothic"/>
              </a:defRPr>
            </a:pPr>
            <a:r>
              <a:t>Ⅴ. 비교 방법 및 유의사항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A3C6E"/>
                </a:solidFill>
                <a:latin typeface="Malgun Gothic"/>
              </a:defRPr>
            </a:pPr>
            <a:r>
              <a:t>본 비교 분석 방법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algun Gothic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algun Gothic"/>
              </a:defRPr>
            </a:pPr>
            <a:r>
              <a:t>• 개정 전(Rev.3) / 개정 후(Rev.4) 두 파일의 본문 단락 및 표 내용을 텍스트 대조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algun Gothic"/>
              </a:defRPr>
            </a:pPr>
            <a:r>
              <a:t>• 실질적으로 변경된 항목(절차·기준·책임소재) 위주로 정리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algun Gothic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1A3C6E"/>
                </a:solidFill>
                <a:latin typeface="Malgun Gothic"/>
              </a:defRPr>
            </a:pPr>
            <a:r>
              <a:t>제외 사항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algun Gothic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algun Gothic"/>
              </a:defRPr>
            </a:pPr>
            <a:r>
              <a:t>• 문구·어미 표현 통일 등 의미 변화가 없는 경미한 수정은 제외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algun Gothic"/>
              </a:defRPr>
            </a:pPr>
            <a:r>
              <a:t>• 그림·도면·서식 레이아웃 등 시각적 요소 변경 여부는 미포함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algun Gothic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C0392B"/>
                </a:solidFill>
                <a:latin typeface="Malgun Gothic"/>
              </a:defRPr>
            </a:pPr>
            <a:r>
              <a:t>⚠ 주의사항</a:t>
            </a:r>
          </a:p>
          <a:p>
            <a:pPr>
              <a:spcAft>
                <a:spcPts val="400"/>
              </a:spcAft>
              <a:defRPr sz="1400" b="0">
                <a:solidFill>
                  <a:srgbClr val="333333"/>
                </a:solidFill>
                <a:latin typeface="Malgun Gothic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C0392B"/>
                </a:solidFill>
                <a:latin typeface="Malgun Gothic"/>
              </a:defRPr>
            </a:pPr>
            <a:r>
              <a:t>• 본 자료는 자동 대조 결과 기반 — 최종 활용 전 원문 대조 확인 권장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